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21080" y="726440"/>
            <a:ext cx="9646920" cy="3246120"/>
          </a:xfrm>
        </p:spPr>
        <p:txBody>
          <a:bodyPr>
            <a:normAutofit/>
          </a:bodyPr>
          <a:lstStyle/>
          <a:p>
            <a:r>
              <a:rPr lang="en-US" sz="4445" dirty="0">
                <a:latin typeface="Arial" panose="020B0604020202020204" pitchFamily="34" charset="0"/>
                <a:cs typeface="Arial" panose="020B0604020202020204" pitchFamily="34" charset="0"/>
              </a:rPr>
              <a:t>Segundo Proyecto de</a:t>
            </a:r>
            <a:br>
              <a:rPr lang="en-US" sz="4445" dirty="0">
                <a:latin typeface="Arial" panose="020B0604020202020204" pitchFamily="34" charset="0"/>
                <a:cs typeface="Arial" panose="020B0604020202020204" pitchFamily="34" charset="0"/>
              </a:rPr>
            </a:br>
            <a:r>
              <a:rPr lang="en-US" sz="4445" dirty="0">
                <a:latin typeface="Arial" panose="020B0604020202020204" pitchFamily="34" charset="0"/>
                <a:cs typeface="Arial" panose="020B0604020202020204" pitchFamily="34" charset="0"/>
              </a:rPr>
              <a:t>Programación</a:t>
            </a:r>
            <a:br>
              <a:rPr lang="en-US" sz="4445" dirty="0">
                <a:latin typeface="Arial" panose="020B0604020202020204" pitchFamily="34" charset="0"/>
                <a:cs typeface="Arial" panose="020B0604020202020204" pitchFamily="34" charset="0"/>
              </a:rPr>
            </a:br>
            <a:r>
              <a:rPr lang="en-US" sz="3200" dirty="0">
                <a:latin typeface="Arial" panose="020B0604020202020204" pitchFamily="34" charset="0"/>
                <a:cs typeface="Arial" panose="020B0604020202020204" pitchFamily="34" charset="0"/>
              </a:rPr>
              <a:t>Gwent-Pro++</a:t>
            </a:r>
            <a:br>
              <a:rPr lang="en-US" sz="3200" dirty="0">
                <a:latin typeface="Arial" panose="020B0604020202020204" pitchFamily="34" charset="0"/>
                <a:cs typeface="Arial" panose="020B0604020202020204" pitchFamily="34" charset="0"/>
              </a:rPr>
            </a:br>
            <a:r>
              <a:rPr lang="en-US" sz="3200" dirty="0">
                <a:latin typeface="Arial" panose="020B0604020202020204" pitchFamily="34" charset="0"/>
                <a:cs typeface="Arial" panose="020B0604020202020204" pitchFamily="34" charset="0"/>
              </a:rPr>
              <a:t>MATCOM-2024</a:t>
            </a:r>
            <a:br>
              <a:rPr lang="en-US" sz="3200" dirty="0">
                <a:latin typeface="Arial" panose="020B0604020202020204" pitchFamily="34" charset="0"/>
                <a:cs typeface="Arial" panose="020B0604020202020204" pitchFamily="34" charset="0"/>
              </a:rPr>
            </a:br>
            <a:r>
              <a:rPr lang="en-US" sz="3200" dirty="0">
                <a:latin typeface="Arial" panose="020B0604020202020204" pitchFamily="34" charset="0"/>
                <a:cs typeface="Arial" panose="020B0604020202020204" pitchFamily="34" charset="0"/>
              </a:rPr>
              <a:t>Barbaro Yoel Martínez González </a:t>
            </a:r>
            <a:br>
              <a:rPr lang="en-US" sz="3200" dirty="0">
                <a:latin typeface="Arial" panose="020B0604020202020204" pitchFamily="34" charset="0"/>
                <a:cs typeface="Arial" panose="020B0604020202020204" pitchFamily="34" charset="0"/>
              </a:rPr>
            </a:br>
            <a:r>
              <a:rPr lang="en-US" sz="3200" dirty="0">
                <a:latin typeface="Arial" panose="020B0604020202020204" pitchFamily="34" charset="0"/>
                <a:cs typeface="Arial" panose="020B0604020202020204" pitchFamily="34" charset="0"/>
              </a:rPr>
              <a:t>C-121</a:t>
            </a:r>
            <a:endParaRPr lang="en-US" sz="32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272540" y="5762625"/>
            <a:ext cx="9144000" cy="405765"/>
          </a:xfrm>
        </p:spPr>
        <p:txBody>
          <a:bodyPr>
            <a:normAutofit fontScale="80000"/>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8375"/>
          </a:xfrm>
        </p:spPr>
        <p:txBody>
          <a:bodyPr/>
          <a:p>
            <a:r>
              <a:rPr lang="en-US" sz="3200">
                <a:latin typeface="Arial" panose="020B0604020202020204" pitchFamily="34" charset="0"/>
                <a:cs typeface="Arial" panose="020B0604020202020204" pitchFamily="34" charset="0"/>
              </a:rPr>
              <a:t>Introducci</a:t>
            </a:r>
            <a:r>
              <a:rPr lang="es-ES" sz="3200">
                <a:latin typeface="Arial" panose="020B0604020202020204" pitchFamily="34" charset="0"/>
                <a:cs typeface="Arial" panose="020B0604020202020204" pitchFamily="34" charset="0"/>
              </a:rPr>
              <a:t>ón</a:t>
            </a:r>
            <a:r>
              <a:rPr lang="en-US" altLang="es-ES" sz="3200">
                <a:latin typeface="Arial" panose="020B0604020202020204" pitchFamily="34" charset="0"/>
                <a:cs typeface="Arial" panose="020B0604020202020204" pitchFamily="34" charset="0"/>
              </a:rPr>
              <a:t> :</a:t>
            </a:r>
            <a:endParaRPr lang="en-US" altLang="es-E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p>
            <a:r>
              <a:rPr lang="en-US"/>
              <a:t>En este proyecto se ha desarrollado un intérprete inspirado en el lenguaje Lox descrito en Crafting Interpreters, adaptado para interpretar cartas y efectos en </a:t>
            </a:r>
            <a:r>
              <a:rPr lang="es-ES" altLang="en-US"/>
              <a:t>el</a:t>
            </a:r>
            <a:r>
              <a:rPr lang="en-US"/>
              <a:t> </a:t>
            </a:r>
            <a:r>
              <a:rPr lang="es-ES" altLang="en-US"/>
              <a:t>juego del Primer Proyecto</a:t>
            </a:r>
            <a:r>
              <a:rPr lang="en-US"/>
              <a:t>. El objetivo principal es permitir que los  usuarios puedan definir cartas y sus efectos a través de un lenguaje sencillo, que luego es procesado y traducido a objetos interactivos dentro del juego. Esta solución pretende agilizar la integración de nuevas cartas al juego sin tener que escribir código adicional </a:t>
            </a:r>
            <a:r>
              <a:rPr lang="es-ES" altLang="en-US"/>
              <a:t>,teniendo en cuenta que una vez terminada la partida , todo volverá a la normalidad , ya que otro usuario tiene el derecho de jugar con las cartas originales </a:t>
            </a:r>
            <a:endParaRPr lang="es-E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s-ES" altLang="en-US" sz="3200">
                <a:latin typeface="Arial" panose="020B0604020202020204" pitchFamily="34" charset="0"/>
                <a:cs typeface="Arial" panose="020B0604020202020204" pitchFamily="34" charset="0"/>
              </a:rPr>
              <a:t>Descripción del intérprete</a:t>
            </a:r>
            <a:r>
              <a:rPr lang="en-US" altLang="es-ES" sz="3200">
                <a:latin typeface="Arial" panose="020B0604020202020204" pitchFamily="34" charset="0"/>
                <a:cs typeface="Arial" panose="020B0604020202020204" pitchFamily="34" charset="0"/>
              </a:rPr>
              <a:t> </a:t>
            </a:r>
            <a:r>
              <a:rPr lang="en-US" altLang="en-US" sz="3200">
                <a:latin typeface="Arial" panose="020B0604020202020204" pitchFamily="34" charset="0"/>
                <a:cs typeface="Arial" panose="020B0604020202020204" pitchFamily="34" charset="0"/>
              </a:rPr>
              <a:t>:</a:t>
            </a:r>
            <a:endParaRPr lang="en-US" altLang="en-U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p>
            <a:r>
              <a:rPr lang="en-US"/>
              <a:t>El intérprete que se ha desarrollado tiene como objetivo principal traducir un lenguaje específico de dominio (DSL) que permite definir cartas con propiedades y efectos en un juego de cartas. Este proceso se lleva a cabo en varias etapas clave. A continuación, se describen en detalle los componentes principales del intérprete.</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Arial" panose="020B0604020202020204" pitchFamily="34" charset="0"/>
                <a:cs typeface="Arial" panose="020B0604020202020204" pitchFamily="34" charset="0"/>
              </a:rPr>
              <a:t>Lenguaje y gramática :</a:t>
            </a:r>
            <a:endParaRPr lang="en-U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lnSpcReduction="20000"/>
          </a:bodyPr>
          <a:p>
            <a:r>
              <a:rPr lang="en-US"/>
              <a:t>El lenguaje utilizado para definir cartas es sencillo, con una estructura que facilita la descripción de propiedades como el tipo de carta, su poder, y los efectos que esta puede generar en el juego. La gramática sigue una estructura basada en declaraciones de propiedades y efectos, por ejemplo:</a:t>
            </a:r>
            <a:endParaRPr lang="en-US"/>
          </a:p>
          <a:p>
            <a:r>
              <a:rPr lang="en-US">
                <a:sym typeface="+mn-ea"/>
              </a:rPr>
              <a:t>effect  {</a:t>
            </a:r>
            <a:endParaRPr lang="en-US"/>
          </a:p>
          <a:p>
            <a:r>
              <a:rPr lang="en-US">
                <a:sym typeface="+mn-ea"/>
              </a:rPr>
              <a:t>    Name: "Damage",</a:t>
            </a:r>
            <a:endParaRPr lang="en-US"/>
          </a:p>
          <a:p>
            <a:r>
              <a:rPr lang="en-US">
                <a:sym typeface="+mn-ea"/>
              </a:rPr>
              <a:t>    Params: {</a:t>
            </a:r>
            <a:endParaRPr lang="en-US"/>
          </a:p>
          <a:p>
            <a:r>
              <a:rPr lang="en-US">
                <a:sym typeface="+mn-ea"/>
              </a:rPr>
              <a:t>      Amount: Number</a:t>
            </a:r>
            <a:endParaRPr lang="en-US"/>
          </a:p>
          <a:p>
            <a:r>
              <a:rPr lang="en-US">
                <a:sym typeface="+mn-ea"/>
              </a:rPr>
              <a:t>  },</a:t>
            </a:r>
            <a:endParaRPr lang="en-US"/>
          </a:p>
          <a:p>
            <a:r>
              <a:rPr lang="en-US">
                <a:sym typeface="+mn-ea"/>
              </a:rPr>
              <a:t>Action: (targets, context) =&gt; { </a:t>
            </a:r>
            <a:endParaRPr lang="en-US"/>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en-US">
                <a:sym typeface="+mn-ea"/>
              </a:rPr>
              <a:t>    for (target in targets){</a:t>
            </a:r>
            <a:endParaRPr lang="en-US"/>
          </a:p>
          <a:p>
            <a:r>
              <a:rPr lang="en-US">
                <a:sym typeface="+mn-ea"/>
              </a:rPr>
              <a:t>       var i= 0;</a:t>
            </a:r>
            <a:endParaRPr lang="en-US"/>
          </a:p>
          <a:p>
            <a:r>
              <a:rPr lang="en-US">
                <a:sym typeface="+mn-ea"/>
              </a:rPr>
              <a:t>              while(i++ &lt;= Amount){</a:t>
            </a:r>
            <a:endParaRPr lang="en-US"/>
          </a:p>
          <a:p>
            <a:r>
              <a:rPr lang="en-US">
                <a:sym typeface="+mn-ea"/>
              </a:rPr>
              <a:t>             target.Power = target.Power - 1;</a:t>
            </a:r>
            <a:endParaRPr lang="en-US"/>
          </a:p>
          <a:p>
            <a:r>
              <a:rPr lang="en-US">
                <a:sym typeface="+mn-ea"/>
              </a:rPr>
              <a:t>            };</a:t>
            </a:r>
            <a:endParaRPr lang="en-US"/>
          </a:p>
          <a:p>
            <a:r>
              <a:rPr lang="en-US">
                <a:sym typeface="+mn-ea"/>
              </a:rPr>
              <a:t>       };</a:t>
            </a:r>
            <a:endParaRPr lang="en-US"/>
          </a:p>
          <a:p>
            <a:r>
              <a:rPr lang="en-US">
                <a:sym typeface="+mn-ea"/>
              </a:rPr>
              <a:t>    }</a:t>
            </a:r>
            <a:endParaRPr lang="en-US"/>
          </a:p>
          <a:p>
            <a:r>
              <a:rPr lang="en-US">
                <a:sym typeface="+mn-ea"/>
              </a:rPr>
              <a:t>}</a:t>
            </a:r>
            <a:endParaRPr lang="en-US"/>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sym typeface="+mn-ea"/>
              </a:rPr>
              <a:t>card {</a:t>
            </a:r>
            <a:endParaRPr lang="en-US"/>
          </a:p>
          <a:p>
            <a:r>
              <a:rPr lang="en-US">
                <a:sym typeface="+mn-ea"/>
              </a:rPr>
              <a:t>    Type: "Silver",</a:t>
            </a:r>
            <a:endParaRPr lang="en-US"/>
          </a:p>
          <a:p>
            <a:r>
              <a:rPr lang="en-US">
                <a:sym typeface="+mn-ea"/>
              </a:rPr>
              <a:t>    Name: "Carta Interpretada",</a:t>
            </a:r>
            <a:endParaRPr lang="en-US"/>
          </a:p>
          <a:p>
            <a:r>
              <a:rPr lang="en-US">
                <a:sym typeface="+mn-ea"/>
              </a:rPr>
              <a:t>     Faction: "Narnia",</a:t>
            </a:r>
            <a:endParaRPr lang="en-US"/>
          </a:p>
          <a:p>
            <a:r>
              <a:rPr lang="en-US">
                <a:sym typeface="+mn-ea"/>
              </a:rPr>
              <a:t>     Power: 9,</a:t>
            </a:r>
            <a:endParaRPr lang="en-US"/>
          </a:p>
          <a:p>
            <a:r>
              <a:rPr lang="en-US">
                <a:sym typeface="+mn-ea"/>
              </a:rPr>
              <a:t>    Range:"Ranged",</a:t>
            </a:r>
            <a:endParaRPr lang="en-US"/>
          </a:p>
          <a:p>
            <a:r>
              <a:rPr lang="en-US">
                <a:sym typeface="+mn-ea"/>
              </a:rPr>
              <a:t>    Description:" Carta creada en el compilador",</a:t>
            </a:r>
            <a:endParaRPr lang="en-US"/>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sym typeface="+mn-ea"/>
              </a:rPr>
              <a:t>OnActivation: [</a:t>
            </a:r>
            <a:endParaRPr lang="en-US"/>
          </a:p>
          <a:p>
            <a:r>
              <a:rPr lang="en-US">
                <a:sym typeface="+mn-ea"/>
              </a:rPr>
              <a:t>        { </a:t>
            </a:r>
            <a:endParaRPr lang="en-US"/>
          </a:p>
          <a:p>
            <a:r>
              <a:rPr lang="en-US">
                <a:sym typeface="+mn-ea"/>
              </a:rPr>
              <a:t>          Effect : {</a:t>
            </a:r>
            <a:endParaRPr lang="en-US"/>
          </a:p>
          <a:p>
            <a:r>
              <a:rPr lang="en-US">
                <a:sym typeface="+mn-ea"/>
              </a:rPr>
              <a:t>              Name: "Damage",</a:t>
            </a:r>
            <a:endParaRPr lang="en-US"/>
          </a:p>
          <a:p>
            <a:r>
              <a:rPr lang="en-US">
                <a:sym typeface="+mn-ea"/>
              </a:rPr>
              <a:t>              Amount: 5,</a:t>
            </a:r>
            <a:endParaRPr lang="en-US"/>
          </a:p>
          <a:p>
            <a:r>
              <a:rPr lang="en-US">
                <a:sym typeface="+mn-ea"/>
              </a:rPr>
              <a:t>          },  </a:t>
            </a:r>
            <a:endParaRPr lang="en-US"/>
          </a:p>
          <a:p>
            <a:r>
              <a:rPr lang="en-US">
                <a:sym typeface="+mn-ea"/>
              </a:rPr>
              <a:t>           Selector:</a:t>
            </a:r>
            <a:endParaRPr lang="en-US"/>
          </a:p>
          <a:p>
            <a:r>
              <a:rPr lang="en-US">
                <a:sym typeface="+mn-ea"/>
              </a:rPr>
              <a:t>            {</a:t>
            </a:r>
            <a:endParaRPr lang="en-US"/>
          </a:p>
          <a:p>
            <a:r>
              <a:rPr lang="en-US">
                <a:sym typeface="+mn-ea"/>
              </a:rPr>
              <a:t>               Single:false ,</a:t>
            </a:r>
            <a:endParaRPr lang="en-US"/>
          </a:p>
          <a:p>
            <a:r>
              <a:rPr lang="en-US">
                <a:sym typeface="+mn-ea"/>
              </a:rPr>
              <a:t>               Source: "board", </a:t>
            </a:r>
            <a:endParaRPr lang="en-US"/>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sym typeface="+mn-ea"/>
              </a:rPr>
              <a:t>             Predicate: (unit) =&gt; unit.Faction == "Narnia";</a:t>
            </a:r>
            <a:endParaRPr lang="en-US"/>
          </a:p>
          <a:p>
            <a:r>
              <a:rPr lang="en-US">
                <a:sym typeface="+mn-ea"/>
              </a:rPr>
              <a:t>            }</a:t>
            </a:r>
            <a:endParaRPr lang="en-US"/>
          </a:p>
          <a:p>
            <a:r>
              <a:rPr lang="en-US">
                <a:sym typeface="+mn-ea"/>
              </a:rPr>
              <a:t>      }</a:t>
            </a:r>
            <a:endParaRPr lang="en-US"/>
          </a:p>
          <a:p>
            <a:r>
              <a:rPr lang="en-US">
                <a:sym typeface="+mn-ea"/>
              </a:rPr>
              <a:t>   ]</a:t>
            </a:r>
            <a:endParaRPr lang="en-US"/>
          </a:p>
          <a:p>
            <a:r>
              <a:rPr lang="en-US">
                <a:sym typeface="+mn-ea"/>
              </a:rPr>
              <a:t>}</a:t>
            </a:r>
            <a:endParaRPr lang="en-US"/>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atin typeface="Arial" panose="020B0604020202020204" pitchFamily="34" charset="0"/>
                <a:cs typeface="Arial" panose="020B0604020202020204" pitchFamily="34" charset="0"/>
              </a:rPr>
              <a:t>La anterior de claraci</a:t>
            </a:r>
            <a:r>
              <a:rPr lang="es-ES">
                <a:latin typeface="Arial" panose="020B0604020202020204" pitchFamily="34" charset="0"/>
                <a:cs typeface="Arial" panose="020B0604020202020204" pitchFamily="34" charset="0"/>
              </a:rPr>
              <a:t>ón contiene algunas modificaciones con respecto al DLS original , entre ellas se encuentra </a:t>
            </a:r>
            <a:r>
              <a:rPr lang="en-US">
                <a:latin typeface="Arial" panose="020B0604020202020204" pitchFamily="34" charset="0"/>
                <a:cs typeface="Arial" panose="020B0604020202020204" pitchFamily="34" charset="0"/>
              </a:rPr>
              <a:t> </a:t>
            </a:r>
            <a:r>
              <a:rPr lang="es-ES" altLang="en-US">
                <a:latin typeface="Arial" panose="020B0604020202020204" pitchFamily="34" charset="0"/>
                <a:cs typeface="Arial" panose="020B0604020202020204" pitchFamily="34" charset="0"/>
              </a:rPr>
              <a:t>, la declaración del Range , ya que esta solo admite un tipo de ataque , y la decalaración de variables ya que antes de declararlas se debe declarar la palabra clave var.</a:t>
            </a: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Arial" panose="020B0604020202020204" pitchFamily="34" charset="0"/>
                <a:cs typeface="Arial" panose="020B0604020202020204" pitchFamily="34" charset="0"/>
              </a:rPr>
              <a:t>Lexer(Análisis léxico):</a:t>
            </a:r>
            <a:endParaRPr lang="es-ES" altLang="en-U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p>
            <a:r>
              <a:rPr lang="en-US">
                <a:latin typeface="Arial" panose="020B0604020202020204" pitchFamily="34" charset="0"/>
                <a:cs typeface="Arial" panose="020B0604020202020204" pitchFamily="34" charset="0"/>
              </a:rPr>
              <a:t>El </a:t>
            </a:r>
            <a:r>
              <a:rPr lang="en-US">
                <a:latin typeface="Arial" panose="020B0604020202020204" pitchFamily="34" charset="0"/>
                <a:cs typeface="Arial" panose="020B0604020202020204" pitchFamily="34" charset="0"/>
                <a:sym typeface="+mn-ea"/>
              </a:rPr>
              <a:t>Análisis léxico</a:t>
            </a:r>
            <a:r>
              <a:rPr lang="en-US">
                <a:latin typeface="Arial" panose="020B0604020202020204" pitchFamily="34" charset="0"/>
                <a:cs typeface="Arial" panose="020B0604020202020204" pitchFamily="34" charset="0"/>
              </a:rPr>
              <a:t> es la primera etapa del intérprete. Su trabajo es tomar el texto de entrada, caracter por caracter, y convertirlo en una serie de tokens. Cada token representa un componente elemental del lenguaje (palabras clave como carta, efecto, o valores literales como números y nombres de cartas).El cual  realiza esta tarea mediante una serie de patrones que reconoce en la cadena de texto y genera los tokens correspondientes.</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Arial" panose="020B0604020202020204" pitchFamily="34" charset="0"/>
                <a:cs typeface="Arial" panose="020B0604020202020204" pitchFamily="34" charset="0"/>
              </a:rPr>
              <a:t>Parser (Análisis sintáctico):</a:t>
            </a:r>
            <a:endParaRPr lang="en-U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p>
            <a:r>
              <a:rPr lang="en-US">
                <a:latin typeface="Arial" panose="020B0604020202020204" pitchFamily="34" charset="0"/>
                <a:cs typeface="Arial" panose="020B0604020202020204" pitchFamily="34" charset="0"/>
              </a:rPr>
              <a:t>Una vez que el Lexer ha generado los tokens, el Parser toma esos tokens y los organiza en una estructura más compleja llamada árbol de sintaxis abstracta (AST, por sus siglas en inglés). Este árbol es una representación jerárquica de la estructura gramatical del código fuente, donde cada nodo del árbol representa una construcción del lenguaje.</a:t>
            </a: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El Parser valida que los tokens sigan el orden y la estructura correctos.</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Arial" panose="020B0604020202020204" pitchFamily="34" charset="0"/>
                <a:cs typeface="Arial" panose="020B0604020202020204" pitchFamily="34" charset="0"/>
              </a:rPr>
              <a:t>Evaluador (Interprete):</a:t>
            </a:r>
            <a:endParaRPr lang="en-U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lnSpcReduction="20000"/>
          </a:bodyPr>
          <a:p>
            <a:r>
              <a:rPr lang="en-US">
                <a:latin typeface="Arial" panose="020B0604020202020204" pitchFamily="34" charset="0"/>
                <a:cs typeface="Arial" panose="020B0604020202020204" pitchFamily="34" charset="0"/>
              </a:rPr>
              <a:t>El evaluador toma el árbol de sintaxis generado por el Parser y lo "interpreta" ejecutando las instrucciones para crear una representación concreta de la carta y sus efectos en el entorno del juego. En este caso, el evaluador transforma el AST en instancias de las clases InterpretedCard y InterpretedEffect, que son utilizadas para la creaci</a:t>
            </a:r>
            <a:r>
              <a:rPr lang="es-ES">
                <a:latin typeface="Arial" panose="020B0604020202020204" pitchFamily="34" charset="0"/>
                <a:cs typeface="Arial" panose="020B0604020202020204" pitchFamily="34" charset="0"/>
              </a:rPr>
              <a:t>ón de nuevas cartas</a:t>
            </a:r>
            <a:r>
              <a:rPr lang="en-US">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a:p>
            <a:endParaRPr lang="es-ES" altLang="en-US">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Arial" panose="020B0604020202020204" pitchFamily="34" charset="0"/>
                <a:cs typeface="Arial" panose="020B0604020202020204" pitchFamily="34" charset="0"/>
              </a:rPr>
              <a:t>El patrón Visitor:</a:t>
            </a:r>
            <a:endParaRPr lang="es-ES" altLang="en-U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p>
            <a:r>
              <a:rPr lang="en-US">
                <a:latin typeface="Arial" panose="020B0604020202020204" pitchFamily="34" charset="0"/>
                <a:cs typeface="Arial" panose="020B0604020202020204" pitchFamily="34" charset="0"/>
              </a:rPr>
              <a:t>El patrón Visitor es clave en esta implementación para recorrer y evaluar el AST (Árbol de Sintaxis Abstracta) generado por el parser. En lugar de agregar la lógica de evaluación directamente en cada clase del árbol, el patrón Visitor permite que las operaciones se mantengan separadas, haciendo que el código sea más flexible y fácil de mantener.</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latin typeface="Arial" panose="020B0604020202020204" pitchFamily="34" charset="0"/>
                <a:cs typeface="Arial" panose="020B0604020202020204" pitchFamily="34" charset="0"/>
              </a:rPr>
              <a:t>En este intérprete, el patrón Visitor se utiliza de la siguiente manera:</a:t>
            </a: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Cada nodo del AST implementa un metodo que acepta un "visitante". El visitante (en este caso, el evaluador) realiza operaciones específicas sobre cada tipo de nodo.</a:t>
            </a:r>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Esto permite añadir nuevas operaciones o modificaciones sin cambiar las clases del AST directamente. Por ejemplo, si se desea agregar una nueva funcionalidad para imprimir detalles de las cartas, solo se necesitaría crear un nuevo "visitante" que implemente esa funcionalidad, dejando intacto el resto del sistema.</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Arial" panose="020B0604020202020204" pitchFamily="34" charset="0"/>
                <a:cs typeface="Arial" panose="020B0604020202020204" pitchFamily="34" charset="0"/>
              </a:rPr>
              <a:t>Estructura de clases:</a:t>
            </a:r>
            <a:endParaRPr lang="en-U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p>
            <a:r>
              <a:rPr lang="en-US">
                <a:latin typeface="Arial" panose="020B0604020202020204" pitchFamily="34" charset="0"/>
                <a:cs typeface="Arial" panose="020B0604020202020204" pitchFamily="34" charset="0"/>
              </a:rPr>
              <a:t>La estructura de clases en el intérprete está organizada para permitir una fácil expansión y modificación de las reglas del lenguaje. Las clases clave incluyen:</a:t>
            </a:r>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InterpretedCard: Esta clase representa una carta interpretada. Contiene propiedades como Nombre, Poder, Tipo y Efecto, que son el resultado de la evaluación del AST.</a:t>
            </a:r>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InterpretedEffect: Define el efecto que tendrá la carta. Esta clase es flexible y permite definir diferentes tipos de efectos, como hacer daño o modificar atributos del jugador o enemigo.</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atin typeface="Arial" panose="020B0604020202020204" pitchFamily="34" charset="0"/>
                <a:cs typeface="Arial" panose="020B0604020202020204" pitchFamily="34" charset="0"/>
              </a:rPr>
              <a:t>CartaStmt, Esspression,Statement, EfectoStmt: Estos representan los nodos del AST. Cada uno de estos nodos es responsable de una parte específica de la definición de la carta. </a:t>
            </a:r>
            <a:endParaRPr lang="en-US">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Arial" panose="020B0604020202020204" pitchFamily="34" charset="0"/>
                <a:cs typeface="Arial" panose="020B0604020202020204" pitchFamily="34" charset="0"/>
              </a:rPr>
              <a:t>Manejo de errores:</a:t>
            </a:r>
            <a:endParaRPr lang="en-U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p>
            <a:r>
              <a:rPr lang="en-US"/>
              <a:t>El manejo de errores es una parte importante de la implementación técnica. Durante el proceso de escaneo, parseo y evaluación, se implementa un sistema que captura errores tanto léxicos como sintácticos. Esto asegura que, si el usuario comete un error al definir una carta, como omitir una propiedad o utilizar un valor no válido, el intérprete sea capaz de detectarlo y generar un mensaje de error útil.Al igual en la evaluaci</a:t>
            </a:r>
            <a:r>
              <a:rPr lang="es-ES"/>
              <a:t>ón este es capaz de reportar un RunTimeError, y no continuar con la ejecución del programa.</a:t>
            </a:r>
            <a:endParaRPr lang="es-E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Arial" panose="020B0604020202020204" pitchFamily="34" charset="0"/>
                <a:cs typeface="Arial" panose="020B0604020202020204" pitchFamily="34" charset="0"/>
              </a:rPr>
              <a:t>Integración con Unity:</a:t>
            </a:r>
            <a:endParaRPr lang="en-U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p>
            <a:r>
              <a:rPr lang="en-US">
                <a:latin typeface="Arial" panose="020B0604020202020204" pitchFamily="34" charset="0"/>
                <a:cs typeface="Arial" panose="020B0604020202020204" pitchFamily="34" charset="0"/>
              </a:rPr>
              <a:t>El juego utiliza ScriptableObjects para manejar las cartas como objetos que pueden ser reutilizados fácilmente en el juego. Se creó una interfaz donde el usuario puede introducir texto que describe una carta, y este texto es procesado por el intérprete para generar automáticamente las cartas correspondientes en Unity. Cada carta creada puede tener asignadas imágenes, y comportamientos únicos, que son gestionados por el sistema de efectos del intérprete.</a:t>
            </a:r>
            <a:endParaRPr lang="en-US">
              <a:latin typeface="Arial" panose="020B0604020202020204" pitchFamily="34" charset="0"/>
              <a:cs typeface="Arial" panose="020B0604020202020204" pitchFamily="34" charset="0"/>
            </a:endParaRPr>
          </a:p>
          <a:p>
            <a:endParaRPr lang="en-US"/>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atin typeface="Arial" panose="020B0604020202020204" pitchFamily="34" charset="0"/>
                <a:cs typeface="Arial" panose="020B0604020202020204" pitchFamily="34" charset="0"/>
                <a:sym typeface="+mn-ea"/>
              </a:rPr>
              <a:t>Uno de los mayores desafíos fue la sincronización entre el lenguaje del intérprete y las reglas del juego, lo que se solucionó mediante la creación de un conjunto de reglas que garantizan que los efectos definidos en el intérprete se traduzcan correctamente en las mecánicas del juego.</a:t>
            </a: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Arial" panose="020B0604020202020204" pitchFamily="34" charset="0"/>
                <a:cs typeface="Arial" panose="020B0604020202020204" pitchFamily="34" charset="0"/>
              </a:rPr>
              <a:t>Conclusión:</a:t>
            </a:r>
            <a:endParaRPr lang="en-US" sz="32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p>
            <a:r>
              <a:rPr lang="en-US">
                <a:latin typeface="Arial" panose="020B0604020202020204" pitchFamily="34" charset="0"/>
                <a:cs typeface="Arial" panose="020B0604020202020204" pitchFamily="34" charset="0"/>
              </a:rPr>
              <a:t>El desarrollo de este intérprete ha facilitado la creación y personalización de cartas y efectos en el juego de Unity, permitiendo a los usuarios añadir nuevas mecánicas de forma ágil. Este sistema abre la puerta a futuras expansiones, donde se podrían incluir nuevos tipos de cartas o incluso extender el lenguaje para interpretar otras mecánicas del juego.</a:t>
            </a:r>
            <a:endParaRPr lang="en-US">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7011</Words>
  <Application>WPS Presentation</Application>
  <PresentationFormat>Widescreen</PresentationFormat>
  <Paragraphs>111</Paragraphs>
  <Slides>20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Arial</vt:lpstr>
      <vt:lpstr>SimSun</vt:lpstr>
      <vt:lpstr>Wingdings</vt:lpstr>
      <vt:lpstr>Calibri Light</vt:lpstr>
      <vt:lpstr>Calibri</vt:lpstr>
      <vt:lpstr>Microsoft YaHei</vt:lpstr>
      <vt:lpstr>Arial Unicode MS</vt:lpstr>
      <vt:lpstr>Arial Black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Segundo Proyecto de Programación Gwent-Pro++ MATCOM-2024 Barbaro Yoel Martínez González  C-121</dc:title>
  <dc:creator/>
  <cp:lastModifiedBy>Barbaro</cp:lastModifiedBy>
  <cp:revision>1</cp:revision>
  <dcterms:created xsi:type="dcterms:W3CDTF">2024-09-10T17:09:25Z</dcterms:created>
  <dcterms:modified xsi:type="dcterms:W3CDTF">2024-09-10T17:09:25Z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A6DBF92298E84FCAAB4CDB3BE19B2312_12</vt:lpwstr>
  </property>
  <property fmtid="{D5CDD505-2E9C-101B-9397-08002B2CF9AE}" pid="3" name="KSOProductBuildVer">
    <vt:lpwstr>1033-12.2.0.17153</vt:lpwstr>
  </property>
</Properties>
</file>